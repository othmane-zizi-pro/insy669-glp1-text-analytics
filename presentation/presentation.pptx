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Media vs Public Opinion on</a:t>
            </a:r>
            <a:br/>
            <a:r>
              <a:t>GLP-1 Weight Loss Drugs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</a:defRPr>
            </a:pPr>
            <a:r>
              <a:t>Ozempic &amp; Wegovy — A Text Analytics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</a:defRPr>
            </a:pPr>
            <a:r>
              <a:t>INSY 669 — Text Analytics | McGill University | Winter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V. Christopoulos  •  H. Guideau  •  S. Khosla  •  M. Yousuf  •  O. Zizi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💊 GLP-1 drugs (Ozempic, Wegovy) have become the most talked-about medications in recent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📰 Media coverage shapes public perception, but does it reflect actual user experiences?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🔍 Research Question: How does media framing of GLP-1 drugs differ from public opinion?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💡 Understanding this gap has implications for pharma marketing, patient education, and health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2121"/>
                </a:solidFill>
              </a:defRPr>
            </a:pPr>
            <a:r>
              <a:t>📊 We analyze 1,500+ documents from Reddit, WebMD, and major news outlets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96F3"/>
                </a:solidFill>
              </a:defRPr>
            </a:pPr>
            <a:r>
              <a:t>📱 Public Opinion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12121"/>
                </a:solidFill>
              </a:defRPr>
            </a:pPr>
            <a:r>
              <a:t>Reddit (800 posts)</a:t>
            </a:r>
            <a:br/>
            <a:r>
              <a:t>• r/Ozempic</a:t>
            </a:r>
            <a:br/>
            <a:r>
              <a:t>• r/Semaglutide</a:t>
            </a:r>
            <a:br/>
            <a:r>
              <a:t>• r/WegovyWeightLoss</a:t>
            </a:r>
            <a:br/>
            <a:br/>
            <a:r>
              <a:t>WebMD Reviews (300)</a:t>
            </a:r>
            <a:br/>
            <a:r>
              <a:t>• Patient experiences</a:t>
            </a:r>
            <a:br/>
            <a:r>
              <a:t>• Drug ratings</a:t>
            </a:r>
            <a:br/>
            <a:br/>
            <a:r>
              <a:t>Total: 1,100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</a:defRPr>
            </a:pPr>
            <a:r>
              <a:t>📰 Media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12121"/>
                </a:solidFill>
              </a:defRPr>
            </a:pPr>
            <a:r>
              <a:t>News Articles (400)</a:t>
            </a:r>
            <a:br/>
            <a:r>
              <a:t>• Reuters, CNN Health</a:t>
            </a:r>
            <a:br/>
            <a:r>
              <a:t>• The New York Times</a:t>
            </a:r>
            <a:br/>
            <a:r>
              <a:t>• STAT News</a:t>
            </a:r>
            <a:br/>
            <a:r>
              <a:t>• Medical News Today</a:t>
            </a:r>
            <a:br/>
            <a:r>
              <a:t>• NPR Health</a:t>
            </a:r>
            <a:br/>
            <a:r>
              <a:t>• Bloomberg, WSJ</a:t>
            </a:r>
            <a:br/>
            <a:r>
              <a:t>• And 8 more outlets</a:t>
            </a:r>
            <a:br/>
            <a:br/>
            <a:r>
              <a:t>Total: 400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1. 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BeautifulSoup, requests, PRAW</a:t>
            </a:r>
            <a:br/>
            <a:r>
              <a:t>Reddit, WebMD, News APIs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2.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NLTK tokenization, stopwords,</a:t>
            </a:r>
            <a:br/>
            <a:r>
              <a:t>lemmatization (WordNetLemmatizer)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46304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3. Feature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Bag-of-Words, TF-IDF</a:t>
            </a:r>
            <a:br/>
            <a:r>
              <a:t>(unigrams + bigrams)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4. Sentiment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VADER sentiment scoring</a:t>
            </a:r>
            <a:br/>
            <a:r>
              <a:t>Compound score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02336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5. Word Associations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PMI, Lift metrics</a:t>
            </a:r>
            <a:br/>
            <a:r>
              <a:t>Co-occurrence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023360"/>
            <a:ext cx="34747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6.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8463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Cosine similarity, MDS plots</a:t>
            </a:r>
            <a:br/>
            <a:r>
              <a:t>Statistical testing (t-test)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Sentiment Analysis Results</a:t>
            </a:r>
          </a:p>
        </p:txBody>
      </p:sp>
      <p:pic>
        <p:nvPicPr>
          <p:cNvPr id="4" name="Picture 3" descr="sentiment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772400" cy="274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0" y="1280160"/>
            <a:ext cx="34747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Key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828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Public Mean: -0.0695</a:t>
            </a:r>
            <a:br/>
            <a:r>
              <a:t>Media Mean: 0.0327</a:t>
            </a:r>
            <a:br/>
            <a:br/>
            <a:r>
              <a:t>T-statistic: -3.7680</a:t>
            </a:r>
            <a:br/>
            <a:r>
              <a:t>P-value: 0.000171</a:t>
            </a:r>
            <a:br/>
            <a:br/>
            <a:r>
              <a:t>✅ Statistically significant</a:t>
            </a:r>
            <a:br/>
            <a:r>
              <a:t>(α = 0.05)</a:t>
            </a:r>
          </a:p>
        </p:txBody>
      </p:sp>
      <p:pic>
        <p:nvPicPr>
          <p:cNvPr id="8" name="Picture 7" descr="sentiment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5486400" cy="2468880"/>
          </a:xfrm>
          <a:prstGeom prst="rect">
            <a:avLst/>
          </a:prstGeom>
        </p:spPr>
      </p:pic>
      <p:pic>
        <p:nvPicPr>
          <p:cNvPr id="9" name="Picture 8" descr="sentiment_p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06240"/>
            <a:ext cx="5486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Language Comparison: What Each Corpus Emphasizes</a:t>
            </a:r>
          </a:p>
        </p:txBody>
      </p:sp>
      <p:pic>
        <p:nvPicPr>
          <p:cNvPr id="4" name="Picture 3" descr="word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2560320"/>
          </a:xfrm>
          <a:prstGeom prst="rect">
            <a:avLst/>
          </a:prstGeom>
        </p:spPr>
      </p:pic>
      <p:pic>
        <p:nvPicPr>
          <p:cNvPr id="5" name="Picture 4" descr="tfid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112471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Document Similarity &amp; Word Associations</a:t>
            </a:r>
          </a:p>
        </p:txBody>
      </p:sp>
      <p:pic>
        <p:nvPicPr>
          <p:cNvPr id="4" name="Picture 3" descr="md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121"/>
                </a:solidFill>
              </a:defRPr>
            </a:pPr>
            <a:r>
              <a:t>MDS Analysis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</a:defRPr>
            </a:pPr>
            <a:r>
              <a:t>• Cosine similarity: 0.3329</a:t>
            </a:r>
            <a:br/>
            <a:br/>
            <a:r>
              <a:t>• Public and media documents form</a:t>
            </a:r>
            <a:br/>
            <a:r>
              <a:t>  partially overlapping clusters</a:t>
            </a:r>
            <a:br/>
            <a:br/>
            <a:r>
              <a:t>• Media cluster is more tightly grouped</a:t>
            </a:r>
            <a:br/>
            <a:r>
              <a:t>  (consistent language/framing)</a:t>
            </a:r>
            <a:br/>
            <a:br/>
            <a:r>
              <a:t>• Public cluster is more dispersed</a:t>
            </a:r>
            <a:br/>
            <a:r>
              <a:t>  (diverse personal experiences)</a:t>
            </a:r>
            <a:br/>
            <a:br/>
            <a:r>
              <a:t>• Some overlap on core drug terms,</a:t>
            </a:r>
            <a:br/>
            <a:r>
              <a:t>  but divergence on context/framing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Side Effects: Coverage Gap Analysis</a:t>
            </a:r>
          </a:p>
        </p:txBody>
      </p:sp>
      <p:pic>
        <p:nvPicPr>
          <p:cNvPr id="4" name="Picture 3" descr="sid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280160"/>
            <a:ext cx="4389120" cy="5029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463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</a:defRPr>
            </a:pPr>
            <a:r>
              <a:t>⚠️ Key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1031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Users frequently discuss side</a:t>
            </a:r>
            <a:br/>
            <a:r>
              <a:t>effects that receive much less</a:t>
            </a:r>
            <a:br/>
            <a:r>
              <a:t>media coverage:</a:t>
            </a:r>
            <a:br/>
            <a:br/>
            <a:r>
              <a:t>• Sulfur burps — embarrassing</a:t>
            </a:r>
            <a:br/>
            <a:r>
              <a:t>  but very common</a:t>
            </a:r>
            <a:br/>
            <a:r>
              <a:t>• Constipation — daily impact</a:t>
            </a:r>
            <a:br/>
            <a:r>
              <a:t>  on quality of life</a:t>
            </a:r>
            <a:br/>
            <a:r>
              <a:t>• Hair loss — unexpected and</a:t>
            </a:r>
            <a:br/>
            <a:r>
              <a:t>  distressing for patients</a:t>
            </a:r>
            <a:br/>
            <a:r>
              <a:t>• Fatigue — affects work and</a:t>
            </a:r>
            <a:br/>
            <a:r>
              <a:t>  daily functioning</a:t>
            </a:r>
            <a:br/>
            <a:br/>
            <a:r>
              <a:t>Media tends to focus on</a:t>
            </a:r>
            <a:br/>
            <a:r>
              <a:t>severe/rare events like</a:t>
            </a:r>
            <a:br/>
            <a:r>
              <a:t>pancreatitis and gastroparesis.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Sentiment Trends Over Time</a:t>
            </a:r>
          </a:p>
        </p:txBody>
      </p:sp>
      <p:pic>
        <p:nvPicPr>
          <p:cNvPr id="4" name="Picture 3" descr="sentim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Media sentiment remains relatively stable and slightly positive, while public sentiment fluctuates more and trends negative — reflecting the gap between media framing and lived patient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</a:defRPr>
            </a:pPr>
            <a:r>
              <a:t>Significant Sentiment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Public opinion is more negative (mean: -0.07) vs media (mean: +0.03). The difference is statistically significant (p &lt; 0.001).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54864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</a:defRPr>
            </a:pPr>
            <a:r>
              <a:t>Different Language, Different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34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Public: personal experiences, side effects, costs. Media: clinical data, market trends, regulation.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</a:defRPr>
            </a:pPr>
            <a:r>
              <a:t>Side Effect Coverage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Common side effects (nausea, constipation, sulfur burps) are underrepresented in media relative to user discussions.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26279"/>
            <a:ext cx="54864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199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5262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</a:defRPr>
            </a:pPr>
            <a:r>
              <a:t>Cost as a Central 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Affordability and insurance coverage dominate public discourse but receive proportionally less media attention.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77840"/>
            <a:ext cx="54864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2121"/>
                </a:solidFill>
              </a:defRPr>
            </a:pPr>
            <a:r>
              <a:t>Emotional vs Analytical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989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</a:defRPr>
            </a:pPr>
            <a:r>
              <a:t>Public posts are highly emotional and personal; media maintains analytical, data-driven tone.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Business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96F3"/>
                </a:solidFill>
              </a:defRPr>
            </a:pPr>
            <a:r>
              <a:t>🏥 Pharmaceutical 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Should proactively address common side effects in patient materials. Current messaging may create expectation gaps that lead to discontinuation.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96F3"/>
                </a:solidFill>
              </a:defRPr>
            </a:pPr>
            <a:r>
              <a:t>📋 Healthcare 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Need awareness of patient concerns beyond clinical data. Users value practical advice on managing everyday side effects over efficacy statistics.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96F3"/>
                </a:solidFill>
              </a:defRPr>
            </a:pPr>
            <a:r>
              <a:t>🏛️ Health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Insurance coverage and drug affordability are top public concerns. Policy interventions addressing cost could significantly improve patient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26279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19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96F3"/>
                </a:solidFill>
              </a:defRPr>
            </a:pPr>
            <a:r>
              <a:t>📢 Media &amp; Communications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Opportunity to provide more balanced coverage that includes common user experiences alongside clinical and market reporting.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196F3"/>
                </a:solidFill>
              </a:defRPr>
            </a:pPr>
            <a:r>
              <a:t>💼 Health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</a:defRPr>
            </a:pPr>
            <a:r>
              <a:t>Patient support platforms should incorporate side effect management tools and peer community features to address the information gap.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BDEFB"/>
                </a:solidFill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76495" cy="274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Vasilis Christopoulos  •  Hugo Guideau  •  Saksi Khosla  •  Mustafa Yousuf  •  Othmane Zizi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github.com/othmane-zizi-pro/insy669-glp1-text-analytics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